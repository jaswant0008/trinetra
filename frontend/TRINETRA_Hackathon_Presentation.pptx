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je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914400"/>
            <a:ext cx="8899855" cy="502920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143000"/>
            <a:ext cx="6339535" cy="347472"/>
          </a:xfrm>
          <a:prstGeom prst="roundRect">
            <a:avLst/>
          </a:prstGeom>
          <a:solidFill>
            <a:srgbClr val="0F1711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PROBLEM STATEMENT 05  •  INTERNAL AGENTIC AI HACKATHON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55310" y="1691640"/>
            <a:ext cx="1280160" cy="1280160"/>
          </a:xfrm>
          <a:prstGeom prst="roundRect">
            <a:avLst/>
          </a:prstGeom>
          <a:solidFill>
            <a:srgbClr val="0F1711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>
                <a:solidFill>
                  <a:srgbClr val="4ADE80"/>
                </a:solidFill>
              </a:defRPr>
            </a:pPr>
            <a:r>
              <a:t>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63240"/>
            <a:ext cx="85340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TRINETRA</a:t>
            </a:r>
          </a:p>
          <a:p>
            <a:pPr algn="ctr">
              <a:defRPr sz="2000" b="1">
                <a:solidFill>
                  <a:srgbClr val="4ADE80"/>
                </a:solidFill>
                <a:latin typeface="Arial"/>
              </a:defRPr>
            </a:pPr>
            <a:r>
              <a:t>Multimodal Intelligence Fusion System</a:t>
            </a:r>
          </a:p>
          <a:p>
            <a:pPr algn="ctr">
              <a:defRPr sz="1600" i="1">
                <a:solidFill>
                  <a:srgbClr val="F59E0B"/>
                </a:solidFill>
                <a:latin typeface="Georgia"/>
              </a:defRPr>
            </a:pPr>
            <a:r>
              <a:t>“From Fragmented Information to Strategic Insight.”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212080"/>
            <a:ext cx="85340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A3B8A3"/>
                </a:solidFill>
                <a:latin typeface="Consolas"/>
              </a:defRPr>
            </a:pPr>
            <a:r>
              <a:t>Agentic AI Knowledge Graph Builder  •  Military-Grade Intelligence Fusion Platform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2E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THE INFORMATION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B735E"/>
                </a:solidFill>
                <a:latin typeface="Consolas"/>
              </a:defRPr>
            </a:pPr>
            <a: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836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Fragmented information. Disconnected knowledge.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ED7AA"/>
                </a:solidFill>
              </a:defRPr>
            </a:pPr>
            <a:r>
              <a:t>“Critical intelligence exists across scattered reports — but remains disconnected without automated fusion.”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328416" cy="292608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/>
          <a:lstStyle/>
          <a:p>
            <a:pPr algn="ctr">
              <a:defRPr b="1" sz="1300">
                <a:solidFill>
                  <a:srgbClr val="4ADE80"/>
                </a:solidFill>
                <a:latin typeface="Consolas"/>
              </a:defRPr>
            </a:pPr>
            <a:r>
              <a:t>01 // DIFFERENT NAMES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The same entity may appear under different names across isolated reports.</a:t>
            </a:r>
            <a:br/>
            <a:br/>
            <a:r>
              <a:t>• Aliases &amp; spelling variations</a:t>
            </a:r>
            <a:br/>
            <a:r>
              <a:t>• Inconsistent call-signs</a:t>
            </a:r>
            <a:br/>
            <a:r>
              <a:t>• Siloed records stay unlinked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28800"/>
            <a:ext cx="3328416" cy="292608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/>
          <a:lstStyle/>
          <a:p>
            <a:pPr algn="ctr">
              <a:defRPr b="1" sz="1300">
                <a:solidFill>
                  <a:srgbClr val="F59E0B"/>
                </a:solidFill>
                <a:latin typeface="Consolas"/>
              </a:defRPr>
            </a:pPr>
            <a:r>
              <a:t>02 // HIDDEN RELATIONSHIPS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Links and connections are difficult to discover across multi-source reports.</a:t>
            </a:r>
            <a:br/>
            <a:br/>
            <a:r>
              <a:t>• Cross-document blind spots</a:t>
            </a:r>
            <a:br/>
            <a:r>
              <a:t>• Disjointed unit affiliations</a:t>
            </a:r>
            <a:br/>
            <a:r>
              <a:t>• Isolated observations hide threats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828800"/>
            <a:ext cx="3328416" cy="292608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/>
          <a:lstStyle/>
          <a:p>
            <a:pPr algn="ctr">
              <a:defRPr b="1" sz="1300">
                <a:solidFill>
                  <a:srgbClr val="EF4444"/>
                </a:solidFill>
                <a:latin typeface="Consolas"/>
              </a:defRPr>
            </a:pPr>
            <a:r>
              <a:t>03 // MANUAL ANALYSIS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Cross-report review is time-consuming, manual, and operationally vulnerable.</a:t>
            </a:r>
            <a:br/>
            <a:br/>
            <a:r>
              <a:t>• 80% time spent sorting memos</a:t>
            </a:r>
            <a:br/>
            <a:r>
              <a:t>• High risk of missed contradictions</a:t>
            </a:r>
            <a:br/>
            <a:r>
              <a:t>• Slow reaction to active developments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983480"/>
            <a:ext cx="10545775" cy="1234440"/>
          </a:xfrm>
          <a:prstGeom prst="roundRect">
            <a:avLst/>
          </a:prstGeom>
          <a:solidFill>
            <a:srgbClr val="0F1711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900" b="1">
                <a:solidFill>
                  <a:srgbClr val="5B735E"/>
                </a:solidFill>
                <a:latin typeface="Consolas"/>
              </a:defRPr>
            </a:pPr>
            <a:r>
              <a:t>THE ROOT CAUSE CASCADE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394960"/>
            <a:ext cx="2011680" cy="5943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A3B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A3B8A3"/>
                </a:solidFill>
                <a:latin typeface="Consolas"/>
              </a:defRPr>
            </a:pPr>
            <a:r>
              <a:t>SCATTERED REPORTS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46120" y="5577840"/>
            <a:ext cx="502920" cy="219456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6200" y="5394960"/>
            <a:ext cx="2011680" cy="5943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59E0B"/>
                </a:solidFill>
                <a:latin typeface="Consolas"/>
              </a:defRPr>
            </a:pPr>
            <a:r>
              <a:t>DISCONNECTED NODES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5040" y="5577840"/>
            <a:ext cx="502920" cy="219456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0" y="5394960"/>
            <a:ext cx="2011680" cy="5943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EF4444"/>
                </a:solidFill>
                <a:latin typeface="Consolas"/>
              </a:defRPr>
            </a:pPr>
            <a:r>
              <a:t>FRAGMENTED INFORMATION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23960" y="5577840"/>
            <a:ext cx="502920" cy="219456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64040" y="5394960"/>
            <a:ext cx="2011680" cy="5943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EF4444"/>
                </a:solidFill>
                <a:latin typeface="Consolas"/>
              </a:defRPr>
            </a:pPr>
            <a:r>
              <a:t>DISCONNECTED KNOWLEDGE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2E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THE TRINETRA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B735E"/>
                </a:solidFill>
                <a:latin typeface="Consolas"/>
              </a:defRPr>
            </a:pPr>
            <a:r>
              <a:t>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836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From reports to connected, queryable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ADE80"/>
                </a:solidFill>
              </a:defRPr>
            </a:pPr>
            <a:r>
              <a:t>“TRINETRA converts multiple unstructured reports into one connected, queryable Knowledge Graph.”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1078992" cy="26517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01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MULTIPLE</a:t>
            </a:r>
            <a:br/>
            <a:r>
              <a:t>REPORTS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PDF, DOCX, TXT</a:t>
            </a:r>
            <a:br/>
            <a:r>
              <a:t>&amp; raw imagery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38528" y="3154680"/>
            <a:ext cx="201168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76272" y="1965960"/>
            <a:ext cx="1078992" cy="26517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02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DOCUMENT</a:t>
            </a:r>
            <a:br/>
            <a:r>
              <a:t>PROCESSING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OCR &amp; layout</a:t>
            </a:r>
            <a:br/>
            <a:r>
              <a:t>segmentation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91840" y="3154680"/>
            <a:ext cx="201168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9584" y="1965960"/>
            <a:ext cx="1078992" cy="26517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03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ENTITY &amp; REL</a:t>
            </a:r>
            <a:br/>
            <a:r>
              <a:t>EXTRACTION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Autonomous zero-</a:t>
            </a:r>
            <a:br/>
            <a:r>
              <a:t>shot NER triples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45152" y="3154680"/>
            <a:ext cx="201168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82896" y="1965960"/>
            <a:ext cx="1078992" cy="26517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04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ENTITY</a:t>
            </a:r>
            <a:br/>
            <a:r>
              <a:t>RESOLUTION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Syntactic alias</a:t>
            </a:r>
            <a:br/>
            <a:r>
              <a:t>clustering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8464" y="3154680"/>
            <a:ext cx="201168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6208" y="1965960"/>
            <a:ext cx="1078992" cy="26517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05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INFORMATION</a:t>
            </a:r>
            <a:br/>
            <a:r>
              <a:t>FUSION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Multi-source merge</a:t>
            </a:r>
            <a:br/>
            <a:r>
              <a:t>&amp; conflict check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51776" y="3154680"/>
            <a:ext cx="201168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965960"/>
            <a:ext cx="1078992" cy="2651760"/>
          </a:xfrm>
          <a:prstGeom prst="roundRect">
            <a:avLst/>
          </a:prstGeom>
          <a:solidFill>
            <a:srgbClr val="233A28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06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KNOWLEDGE</a:t>
            </a:r>
            <a:br/>
            <a:r>
              <a:t>GRAPH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Connected RDF</a:t>
            </a:r>
            <a:br/>
            <a:r>
              <a:t>semantic network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05088" y="3154680"/>
            <a:ext cx="201168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42832" y="1965960"/>
            <a:ext cx="1078992" cy="26517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07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NATURAL-LANG</a:t>
            </a:r>
            <a:br/>
            <a:r>
              <a:t>QUERY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GraphRAG multi-</a:t>
            </a:r>
            <a:br/>
            <a:r>
              <a:t>hop reasoning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058400" y="3154680"/>
            <a:ext cx="201168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96144" y="1965960"/>
            <a:ext cx="1078992" cy="2651760"/>
          </a:xfrm>
          <a:prstGeom prst="roundRect">
            <a:avLst/>
          </a:prstGeom>
          <a:solidFill>
            <a:srgbClr val="26341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08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ANSWER + SOURCE</a:t>
            </a:r>
            <a:br/>
            <a:r>
              <a:t>EVIDENCE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Grounded answer</a:t>
            </a:r>
            <a:br/>
            <a:r>
              <a:t>with citations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92040"/>
            <a:ext cx="10545775" cy="1280160"/>
          </a:xfrm>
          <a:prstGeom prst="roundRect">
            <a:avLst/>
          </a:prstGeom>
          <a:solidFill>
            <a:srgbClr val="162219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b="1" sz="1100">
                <a:solidFill>
                  <a:srgbClr val="4ADE80"/>
                </a:solidFill>
                <a:latin typeface="Consolas"/>
              </a:defRPr>
            </a:pPr>
            <a:r>
              <a:t>CONTINUOUS REASONING FLOW (ZERO HALLUCINATIONS)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Every extracted entity, relationship, and GraphRAG answer links directly to page-numbered source evidence. Contradictory reports are flagged autonomously for analyst confirmation.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2E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HOW TRINETRA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B735E"/>
                </a:solidFill>
                <a:latin typeface="Consolas"/>
              </a:defRPr>
            </a:pPr>
            <a:r>
              <a:t>04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836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Four steps to connect facts from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ED7AA"/>
                </a:solidFill>
              </a:defRPr>
            </a:pPr>
            <a:r>
              <a:t>“Autonomous 4-stage pipeline that unifies multi-source intelligence reports into verified facts.”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2240280" cy="31089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01168"/>
          <a:lstStyle/>
          <a:p>
            <a:pPr algn="ctr">
              <a:defRPr b="1" sz="1300">
                <a:solidFill>
                  <a:srgbClr val="F59E0B"/>
                </a:solidFill>
                <a:latin typeface="Consolas"/>
              </a:defRPr>
            </a:pPr>
            <a:r>
              <a:t>01 //</a:t>
            </a:r>
          </a:p>
          <a:p>
            <a:pPr>
              <a:defRPr b="1" sz="1400">
                <a:solidFill>
                  <a:srgbClr val="FFFFFF"/>
                </a:solidFill>
              </a:defRPr>
            </a:pPr>
            <a:r>
              <a:t>ADD REPORTS</a:t>
            </a:r>
          </a:p>
          <a:p>
            <a:br/>
            <a:pPr>
              <a:defRPr b="1" sz="1050">
                <a:solidFill>
                  <a:srgbClr val="4ADE80"/>
                </a:solidFill>
              </a:defRPr>
            </a:pPr>
            <a:r>
              <a:t>Upload several PDF reports.</a:t>
            </a:r>
          </a:p>
          <a:p>
            <a:br/>
            <a:pPr>
              <a:defRPr sz="950">
                <a:solidFill>
                  <a:srgbClr val="A3B8A3"/>
                </a:solidFill>
              </a:defRPr>
            </a:pPr>
            <a:r>
              <a:t>Batch multi-format ingestion:</a:t>
            </a:r>
            <a:br/>
            <a:r>
              <a:t>• Intelligence summaries</a:t>
            </a:r>
            <a:br/>
            <a:r>
              <a:t>• Field patrol logs</a:t>
            </a:r>
            <a:br/>
            <a:r>
              <a:t>• Signals intercepts &amp; maps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72968" y="3291840"/>
            <a:ext cx="384048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66744" y="1920240"/>
            <a:ext cx="2240280" cy="31089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01168"/>
          <a:lstStyle/>
          <a:p>
            <a:pPr algn="ctr">
              <a:defRPr b="1" sz="1300">
                <a:solidFill>
                  <a:srgbClr val="F59E0B"/>
                </a:solidFill>
                <a:latin typeface="Consolas"/>
              </a:defRPr>
            </a:pPr>
            <a:r>
              <a:t>02 //</a:t>
            </a:r>
          </a:p>
          <a:p>
            <a:pPr>
              <a:defRPr b="1" sz="1400">
                <a:solidFill>
                  <a:srgbClr val="FFFFFF"/>
                </a:solidFill>
              </a:defRPr>
            </a:pPr>
            <a:r>
              <a:t>FIND FACTS</a:t>
            </a:r>
          </a:p>
          <a:p>
            <a:br/>
            <a:pPr>
              <a:defRPr b="1" sz="1050">
                <a:solidFill>
                  <a:srgbClr val="4ADE80"/>
                </a:solidFill>
              </a:defRPr>
            </a:pPr>
            <a:r>
              <a:t>Find people, groups, events,</a:t>
            </a:r>
            <a:br/>
            <a:r>
              <a:t>equipment, places and links.</a:t>
            </a:r>
          </a:p>
          <a:p>
            <a:br/>
            <a:pPr>
              <a:defRPr sz="950">
                <a:solidFill>
                  <a:srgbClr val="A3B8A3"/>
                </a:solidFill>
              </a:defRPr>
            </a:pPr>
            <a:r>
              <a:t>Autonomous NER extraction:</a:t>
            </a:r>
            <a:br/>
            <a:r>
              <a:t>• Zero-shot entity recognition</a:t>
            </a:r>
            <a:br/>
            <a:r>
              <a:t>• Spatio-temporal anchoring</a:t>
            </a:r>
            <a:br/>
            <a:r>
              <a:t>• Subject-Predicate-Object triples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16752" y="3291840"/>
            <a:ext cx="384048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10528" y="1920240"/>
            <a:ext cx="2240280" cy="31089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01168"/>
          <a:lstStyle/>
          <a:p>
            <a:pPr algn="ctr">
              <a:defRPr b="1" sz="1300">
                <a:solidFill>
                  <a:srgbClr val="F59E0B"/>
                </a:solidFill>
                <a:latin typeface="Consolas"/>
              </a:defRPr>
            </a:pPr>
            <a:r>
              <a:t>03 //</a:t>
            </a:r>
          </a:p>
          <a:p>
            <a:pPr>
              <a:defRPr b="1" sz="1400">
                <a:solidFill>
                  <a:srgbClr val="FFFFFF"/>
                </a:solidFill>
              </a:defRPr>
            </a:pPr>
            <a:r>
              <a:t>MATCH NAMES</a:t>
            </a:r>
          </a:p>
          <a:p>
            <a:br/>
            <a:pPr>
              <a:defRPr b="1" sz="1050">
                <a:solidFill>
                  <a:srgbClr val="4ADE80"/>
                </a:solidFill>
              </a:defRPr>
            </a:pPr>
            <a:r>
              <a:t>Vehicle 1 / Equipment 1 /</a:t>
            </a:r>
            <a:br/>
            <a:r>
              <a:t>Team A / Event 1  →  Match</a:t>
            </a:r>
          </a:p>
          <a:p>
            <a:br/>
            <a:pPr>
              <a:defRPr sz="950">
                <a:solidFill>
                  <a:srgbClr val="A3B8A3"/>
                </a:solidFill>
              </a:defRPr>
            </a:pPr>
            <a:r>
              <a:t>Entity Resolution Engine:</a:t>
            </a:r>
            <a:br/>
            <a:r>
              <a:t>• Surface alias clustering</a:t>
            </a:r>
            <a:br/>
            <a:r>
              <a:t>• Phonetic &amp; semantic matching</a:t>
            </a:r>
            <a:br/>
            <a:r>
              <a:t>• Cross-source entity linking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60536" y="3291840"/>
            <a:ext cx="384048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54312" y="1920240"/>
            <a:ext cx="2240280" cy="310896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01168"/>
          <a:lstStyle/>
          <a:p>
            <a:pPr algn="ctr">
              <a:defRPr b="1" sz="1300">
                <a:solidFill>
                  <a:srgbClr val="F59E0B"/>
                </a:solidFill>
                <a:latin typeface="Consolas"/>
              </a:defRPr>
            </a:pPr>
            <a:r>
              <a:t>04 //</a:t>
            </a:r>
          </a:p>
          <a:p>
            <a:pPr>
              <a:defRPr b="1" sz="1400">
                <a:solidFill>
                  <a:srgbClr val="FFFFFF"/>
                </a:solidFill>
              </a:defRPr>
            </a:pPr>
            <a:r>
              <a:t>COMBINE</a:t>
            </a:r>
          </a:p>
          <a:p>
            <a:br/>
            <a:pPr>
              <a:defRPr b="1" sz="1050">
                <a:solidFill>
                  <a:srgbClr val="4ADE80"/>
                </a:solidFill>
              </a:defRPr>
            </a:pPr>
            <a:r>
              <a:t>Combine matching facts and</a:t>
            </a:r>
            <a:br/>
            <a:r>
              <a:t>keep links to their sources.</a:t>
            </a:r>
          </a:p>
          <a:p>
            <a:br/>
            <a:pPr>
              <a:defRPr sz="950">
                <a:solidFill>
                  <a:srgbClr val="A3B8A3"/>
                </a:solidFill>
              </a:defRPr>
            </a:pPr>
            <a:r>
              <a:t>Knowledge Fusion &amp; Provenance:</a:t>
            </a:r>
            <a:br/>
            <a:r>
              <a:t>• Merges into unified node</a:t>
            </a:r>
            <a:br/>
            <a:r>
              <a:t>• Flags contradictory dates/coords</a:t>
            </a:r>
            <a:br/>
            <a:r>
              <a:t>• 100% verifiable page citations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03520"/>
            <a:ext cx="10545775" cy="960120"/>
          </a:xfrm>
          <a:prstGeom prst="roundRect">
            <a:avLst/>
          </a:prstGeom>
          <a:solidFill>
            <a:srgbClr val="0F1711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b="1" sz="1000">
                <a:solidFill>
                  <a:srgbClr val="F59E0B"/>
                </a:solidFill>
                <a:latin typeface="Consolas"/>
              </a:defRPr>
            </a:pPr>
            <a:r>
              <a:t>TACTICAL EXECUTION PRINCIPLE: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TRINETRA automates the entire ingestion-to-graph pipeline in seconds, eliminating manual correlation bottlenecks.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2E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FROM TEXT TO CONNECTED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B735E"/>
                </a:solidFill>
                <a:latin typeface="Consolas"/>
              </a:defRPr>
            </a:pPr>
            <a: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836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Entities become a source-grounded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0160"/>
            <a:ext cx="10545775" cy="475488"/>
          </a:xfrm>
          <a:prstGeom prst="roundRect">
            <a:avLst/>
          </a:prstGeom>
          <a:solidFill>
            <a:srgbClr val="0F1711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4ADE80"/>
                </a:solidFill>
                <a:latin typeface="Consolas"/>
              </a:defRPr>
            </a:pPr>
            <a:r>
              <a:t>SEMANTIC FOUNDATION:   [ ENTITY ]   ──────▶   ( RELATIONSHIP )   ──────▶   [ ENTITY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6217920" cy="429768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b="1" sz="1100">
                <a:solidFill>
                  <a:srgbClr val="F59E0B"/>
                </a:solidFill>
                <a:latin typeface="Consolas"/>
              </a:defRPr>
            </a:pPr>
            <a:r>
              <a:t>SYNTHESIZED KNOWLEDGE GRAPH VISUALIZATION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560320"/>
            <a:ext cx="2011680" cy="822960"/>
          </a:xfrm>
          <a:prstGeom prst="roundRect">
            <a:avLst/>
          </a:prstGeom>
          <a:solidFill>
            <a:srgbClr val="233A28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Enemy Vehicle A</a:t>
            </a:r>
            <a:br/>
            <a:r>
              <a:t>[EQUIPMENT]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91840" y="2834640"/>
            <a:ext cx="1371600" cy="219456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578608"/>
            <a:ext cx="1371600" cy="219456"/>
          </a:xfrm>
          <a:prstGeom prst="roundRect">
            <a:avLst/>
          </a:prstGeom>
          <a:solidFill>
            <a:srgbClr val="0F1711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59E0B"/>
                </a:solidFill>
                <a:latin typeface="Consolas"/>
              </a:defRPr>
            </a:pPr>
            <a:r>
              <a:t>EQUIPPED WITH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560320"/>
            <a:ext cx="2011680" cy="822960"/>
          </a:xfrm>
          <a:prstGeom prst="roundRect">
            <a:avLst/>
          </a:prstGeom>
          <a:solidFill>
            <a:srgbClr val="2D2A1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Weapon X</a:t>
            </a:r>
            <a:br/>
            <a:r>
              <a:t>[WEAPONRY]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965960" y="3474720"/>
            <a:ext cx="274320" cy="640080"/>
          </a:xfrm>
          <a:prstGeom prst="down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566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Consolas"/>
              </a:defRPr>
            </a:pPr>
            <a:r>
              <a:t>associated with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206240"/>
            <a:ext cx="2011680" cy="822960"/>
          </a:xfrm>
          <a:prstGeom prst="roundRect">
            <a:avLst/>
          </a:prstGeom>
          <a:solidFill>
            <a:srgbClr val="1E3037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Unit Alpha</a:t>
            </a:r>
            <a:br/>
            <a:r>
              <a:t>[ORGANIZATION]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91840" y="4480560"/>
            <a:ext cx="1371600" cy="219456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0" y="4224528"/>
            <a:ext cx="1371600" cy="219456"/>
          </a:xfrm>
          <a:prstGeom prst="roundRect">
            <a:avLst/>
          </a:prstGeom>
          <a:solidFill>
            <a:srgbClr val="0F1711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59E0B"/>
                </a:solidFill>
                <a:latin typeface="Consolas"/>
              </a:defRPr>
            </a:pPr>
            <a:r>
              <a:t>MENTIONED 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4206240"/>
            <a:ext cx="2011680" cy="822960"/>
          </a:xfrm>
          <a:prstGeom prst="roundRect">
            <a:avLst/>
          </a:prstGeom>
          <a:solidFill>
            <a:srgbClr val="321919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Incident Y</a:t>
            </a:r>
            <a:br/>
            <a:r>
              <a:t>[EVENT]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5780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ADE80"/>
                </a:solidFill>
              </a:defRPr>
            </a:pPr>
            <a:r>
              <a:t>✓ Operational Discovery: Autonomous link established between Weapon X and Incident Y via common node Enemy Vehicle 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965960"/>
            <a:ext cx="4053535" cy="4297680"/>
          </a:xfrm>
          <a:prstGeom prst="roundRect">
            <a:avLst/>
          </a:prstGeom>
          <a:solidFill>
            <a:srgbClr val="162219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28600"/>
          <a:lstStyle/>
          <a:p>
            <a:pPr algn="ctr">
              <a:defRPr b="1" sz="1200">
                <a:solidFill>
                  <a:srgbClr val="4ADE80"/>
                </a:solidFill>
                <a:latin typeface="Consolas"/>
              </a:defRPr>
            </a:pPr>
            <a:r>
              <a:t>SOURCE-GROUNDED TRACEABILITY</a:t>
            </a:r>
          </a:p>
          <a:p>
            <a:br/>
            <a:pPr>
              <a:defRPr b="1" sz="1150">
                <a:solidFill>
                  <a:srgbClr val="FED7AA"/>
                </a:solidFill>
              </a:defRPr>
            </a:pPr>
            <a:r>
              <a:t>▸  Connected Through Evidence</a:t>
            </a:r>
          </a:p>
          <a:p>
            <a:pPr>
              <a:defRPr sz="1000">
                <a:solidFill>
                  <a:srgbClr val="A3B8A3"/>
                </a:solidFill>
              </a:defRPr>
            </a:pPr>
            <a:r>
              <a:t>    Every relationship in the graph is strictly supported by source documents. No speculative links.</a:t>
            </a:r>
          </a:p>
          <a:p>
            <a:br/>
            <a:pPr>
              <a:defRPr b="1" sz="1150">
                <a:solidFill>
                  <a:srgbClr val="FED7AA"/>
                </a:solidFill>
              </a:defRPr>
            </a:pPr>
            <a:r>
              <a:t>▸  Provenance Preservation</a:t>
            </a:r>
          </a:p>
          <a:p>
            <a:pPr>
              <a:defRPr sz="1000">
                <a:solidFill>
                  <a:srgbClr val="A3B8A3"/>
                </a:solidFill>
              </a:defRPr>
            </a:pPr>
            <a:r>
              <a:t>    Each edge stores document ID, page number, and source sentence offset for instant analyst verification.</a:t>
            </a:r>
          </a:p>
          <a:p>
            <a:br/>
            <a:pPr>
              <a:defRPr b="1" sz="1150">
                <a:solidFill>
                  <a:srgbClr val="FED7AA"/>
                </a:solidFill>
              </a:defRPr>
            </a:pPr>
            <a:r>
              <a:t>▸  Multi-Hop Reasoning</a:t>
            </a:r>
          </a:p>
          <a:p>
            <a:pPr>
              <a:defRPr sz="1000">
                <a:solidFill>
                  <a:srgbClr val="A3B8A3"/>
                </a:solidFill>
              </a:defRPr>
            </a:pPr>
            <a:r>
              <a:t>    GraphRAG traces 2-hop and 3-hop connections that analysts cannot spot across multiple distinct PDFs.</a:t>
            </a:r>
          </a:p>
          <a:p>
            <a:br/>
            <a:pPr>
              <a:defRPr b="1" sz="1150">
                <a:solidFill>
                  <a:srgbClr val="FED7AA"/>
                </a:solidFill>
              </a:defRPr>
            </a:pPr>
            <a:r>
              <a:t>▸  Discrepancy Auditing</a:t>
            </a:r>
          </a:p>
          <a:p>
            <a:pPr>
              <a:defRPr sz="1000">
                <a:solidFill>
                  <a:srgbClr val="A3B8A3"/>
                </a:solidFill>
              </a:defRPr>
            </a:pPr>
            <a:r>
              <a:t>    If Report 01 and Report 03 report conflicting coordinates, a discrepancy badge is flagged autonomously.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2E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AGENTIC AI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B735E"/>
                </a:solidFill>
                <a:latin typeface="Consolas"/>
              </a:defRPr>
            </a:pPr>
            <a: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836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Specialized agents collaborate across the evidence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ADE80"/>
                </a:solidFill>
              </a:defRPr>
            </a:pPr>
            <a:r>
              <a:t>“Specialized agents transform unstructured reports into structured, connected knowledge.”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243584" cy="274320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01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DOCUMENT</a:t>
            </a:r>
            <a:br/>
            <a:r>
              <a:t>AGENT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Ingests PDF, DOCX,</a:t>
            </a:r>
            <a:br/>
            <a:r>
              <a:t>TXT &amp; map imagery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0" y="3291840"/>
            <a:ext cx="219456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9152" y="2057400"/>
            <a:ext cx="1243584" cy="274320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02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EXTRACTION</a:t>
            </a:r>
            <a:br/>
            <a:r>
              <a:t>AGENT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Zero-shot entity</a:t>
            </a:r>
            <a:br/>
            <a:r>
              <a:t>&amp; triple recognition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39312" y="3291840"/>
            <a:ext cx="219456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95344" y="2057400"/>
            <a:ext cx="1243584" cy="274320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03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ENTITY RES</a:t>
            </a:r>
            <a:br/>
            <a:r>
              <a:t>AGENT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Harmonizes aliases</a:t>
            </a:r>
            <a:br/>
            <a:r>
              <a:t>&amp; clusters duplicates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75504" y="3291840"/>
            <a:ext cx="219456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31536" y="2057400"/>
            <a:ext cx="1243584" cy="274320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04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KNOWLEDGE</a:t>
            </a:r>
            <a:br/>
            <a:r>
              <a:t>FUSION AGENT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Constructs graph &amp;</a:t>
            </a:r>
            <a:br/>
            <a:r>
              <a:t>audits discrepancies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11696" y="3291840"/>
            <a:ext cx="219456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67728" y="2057400"/>
            <a:ext cx="1243584" cy="2743200"/>
          </a:xfrm>
          <a:prstGeom prst="roundRect">
            <a:avLst/>
          </a:prstGeom>
          <a:solidFill>
            <a:srgbClr val="263E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05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KNOWLEDGE</a:t>
            </a:r>
            <a:br/>
            <a:r>
              <a:t>GRAPH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Decentralized RDF</a:t>
            </a:r>
            <a:br/>
            <a:r>
              <a:t>network topology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247888" y="3291840"/>
            <a:ext cx="219456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0" y="2057400"/>
            <a:ext cx="1243584" cy="274320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06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QUERY</a:t>
            </a:r>
            <a:br/>
            <a:r>
              <a:t>AGENT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GraphRAG multi-hop</a:t>
            </a:r>
            <a:br/>
            <a:r>
              <a:t>reasoning engine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784080" y="3291840"/>
            <a:ext cx="219456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40112" y="2057400"/>
            <a:ext cx="1243584" cy="2743200"/>
          </a:xfrm>
          <a:prstGeom prst="roundRect">
            <a:avLst/>
          </a:prstGeom>
          <a:solidFill>
            <a:srgbClr val="30382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OUT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br/>
            <a:r>
              <a:t>ANSWER +</a:t>
            </a:r>
            <a:br/>
            <a:r>
              <a:t>EVIDENCE</a:t>
            </a:r>
          </a:p>
          <a:p>
            <a:pPr algn="ctr">
              <a:defRPr sz="850">
                <a:solidFill>
                  <a:srgbClr val="A3B8A3"/>
                </a:solidFill>
              </a:defRPr>
            </a:pPr>
            <a:br/>
            <a:r>
              <a:t>Grounded answer with</a:t>
            </a:r>
            <a:br/>
            <a:r>
              <a:t>source citations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120640"/>
            <a:ext cx="10545775" cy="1097280"/>
          </a:xfrm>
          <a:prstGeom prst="roundRect">
            <a:avLst/>
          </a:prstGeom>
          <a:solidFill>
            <a:srgbClr val="162219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b="1" sz="1100">
                <a:solidFill>
                  <a:srgbClr val="4ADE80"/>
                </a:solidFill>
                <a:latin typeface="Consolas"/>
              </a:defRPr>
            </a:pPr>
            <a:r>
              <a:t>DECENTRALIZED AGENTIC COLLABORATION PRINCIPLE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Specialized autonomous agents communicate through explicit semantic protocols. Each agent executes a deterministic intelligence task, ensuring 100% auditability and eliminating single points of failure.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2E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FICTIONAL / SYNTHETIC DEMO DATA · TRINETRA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B735E"/>
                </a:solidFill>
                <a:latin typeface="Consolas"/>
              </a:defRPr>
            </a:pPr>
            <a: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836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Three reports, one connected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0160"/>
            <a:ext cx="10545775" cy="365760"/>
          </a:xfrm>
          <a:prstGeom prst="roundRect">
            <a:avLst/>
          </a:prstGeom>
          <a:solidFill>
            <a:srgbClr val="0F171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ED7AA"/>
                </a:solidFill>
                <a:latin typeface="Consolas"/>
              </a:defRPr>
            </a:pPr>
            <a:r>
              <a:t>FICTIONAL / SYNTHETIC DEMO DATA  •  NO REAL MILITARY LOCATIONS, UNITS OR TARGETING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3328416" cy="146304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b="1" sz="1000">
                <a:solidFill>
                  <a:srgbClr val="4ADE80"/>
                </a:solidFill>
                <a:latin typeface="Consolas"/>
              </a:defRPr>
            </a:pPr>
            <a:r>
              <a:t>REPORT 01 (PATROL LOG)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Enemy Vehicle A equipped with Weapon X</a:t>
            </a:r>
          </a:p>
          <a:p>
            <a:br/>
            <a:pPr>
              <a:defRPr sz="900">
                <a:solidFill>
                  <a:srgbClr val="A3B8A3"/>
                </a:solidFill>
              </a:defRPr>
            </a:pPr>
            <a:r>
              <a:t>📄 Source: Sector Bravo Recon Brief</a:t>
            </a:r>
            <a:br/>
            <a:r>
              <a:t>• Entity: Enemy Vehicle A</a:t>
            </a:r>
            <a:br/>
            <a:r>
              <a:t>• Mount: Weapon X armament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74519"/>
            <a:ext cx="3328416" cy="146304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b="1" sz="1000">
                <a:solidFill>
                  <a:srgbClr val="4ADE80"/>
                </a:solidFill>
                <a:latin typeface="Consolas"/>
              </a:defRPr>
            </a:pPr>
            <a:r>
              <a:t>REPORT 02 (SIGNALS INTERCEPT)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Enemy Vehicle A linked to Unit Alpha</a:t>
            </a:r>
          </a:p>
          <a:p>
            <a:br/>
            <a:pPr>
              <a:defRPr sz="900">
                <a:solidFill>
                  <a:srgbClr val="A3B8A3"/>
                </a:solidFill>
              </a:defRPr>
            </a:pPr>
            <a:r>
              <a:t>📄 Source: Communications Intercept 09</a:t>
            </a:r>
            <a:br/>
            <a:r>
              <a:t>• Entity: Enemy Vehicle A</a:t>
            </a:r>
            <a:br/>
            <a:r>
              <a:t>• Affiliation: Unit Alpha 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874519"/>
            <a:ext cx="3328416" cy="146304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b="1" sz="1000">
                <a:solidFill>
                  <a:srgbClr val="4ADE80"/>
                </a:solidFill>
                <a:latin typeface="Consolas"/>
              </a:defRPr>
            </a:pPr>
            <a:r>
              <a:t>REPORT 03 (SURVEILLANCE)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Unit Alpha mentioned in Incident Y</a:t>
            </a:r>
          </a:p>
          <a:p>
            <a:br/>
            <a:pPr>
              <a:defRPr sz="900">
                <a:solidFill>
                  <a:srgbClr val="A3B8A3"/>
                </a:solidFill>
              </a:defRPr>
            </a:pPr>
            <a:r>
              <a:t>📄 Source: Perimeter Camera Log 14</a:t>
            </a:r>
            <a:br/>
            <a:r>
              <a:t>• Entity: Unit Alpha</a:t>
            </a:r>
            <a:br/>
            <a:r>
              <a:t>• Context: Active at Incident Y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377440" y="3429000"/>
            <a:ext cx="274320" cy="320040"/>
          </a:xfrm>
          <a:prstGeom prst="down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5989320" y="3429000"/>
            <a:ext cx="274320" cy="320040"/>
          </a:xfrm>
          <a:prstGeom prst="down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9601200" y="3429000"/>
            <a:ext cx="274320" cy="320040"/>
          </a:xfrm>
          <a:prstGeom prst="down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840480"/>
            <a:ext cx="10545775" cy="2423160"/>
          </a:xfrm>
          <a:prstGeom prst="roundRect">
            <a:avLst/>
          </a:prstGeom>
          <a:solidFill>
            <a:srgbClr val="162219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200">
                <a:solidFill>
                  <a:srgbClr val="4ADE80"/>
                </a:solidFill>
                <a:latin typeface="Consolas"/>
              </a:defRPr>
            </a:pPr>
            <a:r>
              <a:t>TRINETRA FUSED INTELLIGENCE SYNTHESIS</a:t>
            </a:r>
          </a:p>
          <a:p>
            <a:br/>
            <a:pPr>
              <a:defRPr sz="1100">
                <a:solidFill>
                  <a:srgbClr val="A3B8A3"/>
                </a:solidFill>
              </a:defRPr>
            </a:pPr>
            <a:r>
              <a:t>Unified Knowledge Trajectory:</a:t>
            </a:r>
          </a:p>
          <a:p>
            <a:pPr>
              <a:defRPr b="1" sz="1500">
                <a:solidFill>
                  <a:srgbClr val="F59E0B"/>
                </a:solidFill>
                <a:latin typeface="Consolas"/>
              </a:defRPr>
            </a:pPr>
            <a:r>
              <a:t>Vehicle A   ──▶   Weapon X   •   Unit Alpha   •   Incident Y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• Operational Insight: Automated fusion reveals that Weapon X is linked to Incident Y through common entity Enemy Vehicle A.</a:t>
            </a:r>
          </a:p>
          <a:p>
            <a:pPr>
              <a:defRPr sz="950" i="1">
                <a:solidFill>
                  <a:srgbClr val="5B735E"/>
                </a:solidFill>
              </a:defRPr>
            </a:pPr>
            <a:r>
              <a:t>• Note: Fictional vehicle and aircraft silhouettes remain secondary to the verifiable evidence graph.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2E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SIMPLE USER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B735E"/>
                </a:solidFill>
                <a:latin typeface="Consolas"/>
              </a:defRPr>
            </a:pPr>
            <a: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836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One workspace for the analyst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4114800" cy="132588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200">
                <a:solidFill>
                  <a:srgbClr val="4ADE80"/>
                </a:solidFill>
                <a:latin typeface="Consolas"/>
              </a:defRPr>
            </a:pPr>
            <a:r>
              <a:t>01 — DASHBOARD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Knowledge Graph + Key Statistics</a:t>
            </a:r>
          </a:p>
          <a:p>
            <a:pPr>
              <a:defRPr sz="950">
                <a:solidFill>
                  <a:srgbClr val="A3B8A3"/>
                </a:solidFill>
              </a:defRPr>
            </a:pPr>
            <a:r>
              <a:t>Processing status, entity / relationship counts, and autonomous conflict indicator at a glance.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4114800" cy="132588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200">
                <a:solidFill>
                  <a:srgbClr val="F59E0B"/>
                </a:solidFill>
                <a:latin typeface="Consolas"/>
              </a:defRPr>
            </a:pPr>
            <a:r>
              <a:t>02 — SOURCES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Upload &amp; Manage Multiple Reports</a:t>
            </a:r>
          </a:p>
          <a:p>
            <a:pPr>
              <a:defRPr sz="950">
                <a:solidFill>
                  <a:srgbClr val="A3B8A3"/>
                </a:solidFill>
              </a:defRPr>
            </a:pPr>
            <a:r>
              <a:t>Drag-and-drop ingestion of multiple PDF reports with interactive split-view text inspector.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4114800" cy="132588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b="1" sz="1200">
                <a:solidFill>
                  <a:srgbClr val="2DD4BF"/>
                </a:solidFill>
                <a:latin typeface="Consolas"/>
              </a:defRPr>
            </a:pPr>
            <a:r>
              <a:t>03 — ASK TRINETRA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Source-Grounded Natural Language QA</a:t>
            </a:r>
          </a:p>
          <a:p>
            <a:pPr>
              <a:defRPr sz="950">
                <a:solidFill>
                  <a:srgbClr val="A3B8A3"/>
                </a:solidFill>
              </a:defRPr>
            </a:pPr>
            <a:r>
              <a:t>Ask tactical questions and receive answers strictly supported by source citations and page numbers.</a:t>
            </a:r>
          </a:p>
        </p:txBody>
      </p:sp>
      <p:pic>
        <p:nvPicPr>
          <p:cNvPr id="11" name="Picture 10" descr="ui_mo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45920"/>
            <a:ext cx="6156655" cy="44348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212080" y="1645920"/>
            <a:ext cx="6156655" cy="4434840"/>
          </a:xfrm>
          <a:prstGeom prst="rect">
            <a:avLst/>
          </a:prstGeom>
          <a:noFill/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6172200"/>
            <a:ext cx="6156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B735E"/>
                </a:solidFill>
                <a:latin typeface="Consolas"/>
              </a:defRPr>
            </a:pPr>
            <a:r>
              <a:t>FICTIONAL / SYNTHETIC UI MOCKUP  •  PS-05 ANALYST CONSOLE</a:t>
            </a: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2E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FICTIONAL / SYNTHETIC DEMO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B735E"/>
                </a:solidFill>
                <a:latin typeface="Consolas"/>
              </a:defRPr>
            </a:pPr>
            <a: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8368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LIVE DEMO — END TO 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0160"/>
            <a:ext cx="10545775" cy="502920"/>
          </a:xfrm>
          <a:prstGeom prst="roundRect">
            <a:avLst/>
          </a:prstGeom>
          <a:solidFill>
            <a:srgbClr val="0F1711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353312"/>
            <a:ext cx="1051560" cy="347472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  <a:latin typeface="Consolas"/>
              </a:defRPr>
            </a:pPr>
            <a:r>
              <a:t>1. UPLOAD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48256" y="1435608"/>
            <a:ext cx="182880" cy="164592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67712" y="1353312"/>
            <a:ext cx="1051560" cy="347472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  <a:latin typeface="Consolas"/>
              </a:defRPr>
            </a:pPr>
            <a:r>
              <a:t>2. PROCESS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55848" y="1435608"/>
            <a:ext cx="182880" cy="164592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75304" y="1353312"/>
            <a:ext cx="1051560" cy="347472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  <a:latin typeface="Consolas"/>
              </a:defRPr>
            </a:pPr>
            <a:r>
              <a:t>3. EXTRACT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63440" y="1435608"/>
            <a:ext cx="182880" cy="164592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82896" y="1353312"/>
            <a:ext cx="1051560" cy="347472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  <a:latin typeface="Consolas"/>
              </a:defRPr>
            </a:pPr>
            <a:r>
              <a:t>4. RESOLVE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71032" y="1435608"/>
            <a:ext cx="182880" cy="164592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0488" y="1353312"/>
            <a:ext cx="1051560" cy="347472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  <a:latin typeface="Consolas"/>
              </a:defRPr>
            </a:pPr>
            <a:r>
              <a:t>5. FUSE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78624" y="1435608"/>
            <a:ext cx="182880" cy="164592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0" y="1353312"/>
            <a:ext cx="1051560" cy="347472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  <a:latin typeface="Consolas"/>
              </a:defRPr>
            </a:pPr>
            <a:r>
              <a:t>6. GRAPH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86216" y="1435608"/>
            <a:ext cx="182880" cy="164592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05672" y="1353312"/>
            <a:ext cx="1051560" cy="347472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2E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FFFFFF"/>
                </a:solidFill>
                <a:latin typeface="Consolas"/>
              </a:defRPr>
            </a:pPr>
            <a:r>
              <a:t>7. ASK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893808" y="1435608"/>
            <a:ext cx="182880" cy="164592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13264" y="1353312"/>
            <a:ext cx="1051560" cy="347472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4ADE80"/>
                </a:solidFill>
                <a:latin typeface="Consolas"/>
              </a:defRPr>
            </a:pPr>
            <a:r>
              <a:t>8. ANSWER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1965960"/>
            <a:ext cx="10545775" cy="1005840"/>
          </a:xfrm>
          <a:prstGeom prst="roundRect">
            <a:avLst/>
          </a:prstGeom>
          <a:solidFill>
            <a:srgbClr val="16221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b="1" sz="1000">
                <a:solidFill>
                  <a:srgbClr val="F59E0B"/>
                </a:solidFill>
                <a:latin typeface="Consolas"/>
              </a:defRPr>
            </a:pPr>
            <a:r>
              <a:t>EXAMPLE ANALYST QUERY:</a:t>
            </a:r>
          </a:p>
          <a:p>
            <a:pPr>
              <a:defRPr b="1" sz="1600">
                <a:solidFill>
                  <a:srgbClr val="FFFFFF"/>
                </a:solidFill>
              </a:defRPr>
            </a:pPr>
            <a:r>
              <a:t>“What information is available about Enemy Vehicle A?”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154680"/>
            <a:ext cx="10545775" cy="324612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>
              <a:defRPr b="1" sz="1100">
                <a:solidFill>
                  <a:srgbClr val="4ADE80"/>
                </a:solidFill>
                <a:latin typeface="Consolas"/>
              </a:defRPr>
            </a:pPr>
            <a:r>
              <a:t>TRINETRA SYNTHESIS &amp; AUDIT RESULT  [VERIFIED FICTIONAL EVIDENCE]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Expected Result: Combined multi-source information, related entities, and supporting report/page references.</a:t>
            </a:r>
          </a:p>
          <a:p>
            <a:pPr>
              <a:defRPr sz="1150" b="1">
                <a:solidFill>
                  <a:srgbClr val="F59E0B"/>
                </a:solidFill>
              </a:defRPr>
            </a:pPr>
            <a:r>
              <a:t>• Related Entities: Weapon X (Equipment)  •  Unit Alpha (Organizations)  •  Incident Y (Events)</a:t>
            </a:r>
          </a:p>
          <a:p>
            <a:br/>
            <a:pPr>
              <a:defRPr sz="1000">
                <a:solidFill>
                  <a:srgbClr val="A3B8A3"/>
                </a:solidFill>
                <a:latin typeface="Consolas"/>
              </a:defRPr>
            </a:pPr>
            <a:r>
              <a:t>• Evidence Citations:</a:t>
            </a:r>
            <a:br/>
            <a:r>
              <a:t>    - Fictional Report 01, p. 2: 'Enemy Vehicle A observed with Weapon X mounts.'</a:t>
            </a:r>
            <a:br/>
            <a:r>
              <a:t>    - Fictional Report 03, p. 1: 'Unit Alpha presence confirmed at Incident Y.'</a:t>
            </a:r>
          </a:p>
          <a:p>
            <a:br/>
            <a:pPr>
              <a:defRPr b="1" sz="1100">
                <a:solidFill>
                  <a:srgbClr val="EF4444"/>
                </a:solidFill>
                <a:latin typeface="Consolas"/>
              </a:defRPr>
            </a:pPr>
            <a:r>
              <a:t>• Guardrail Enforcement: Unsupported query  ──▶  INSUFFICIENT SOURCE EVIDENCE (Zero Hallucinations Guarantee)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ing_tricolou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005840"/>
            <a:ext cx="8168335" cy="4846320"/>
          </a:xfrm>
          <a:prstGeom prst="roundRect">
            <a:avLst/>
          </a:prstGeom>
          <a:solidFill>
            <a:srgbClr val="1B2A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ADE80"/>
                </a:solidFill>
                <a:latin typeface="Consolas"/>
              </a:defRPr>
            </a:pPr>
            <a:r>
              <a:t>TRINETRA</a:t>
            </a:r>
          </a:p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 algn="ctr">
              <a:defRPr sz="1600" i="1">
                <a:solidFill>
                  <a:srgbClr val="F59E0B"/>
                </a:solidFill>
                <a:latin typeface="Georgia"/>
              </a:defRPr>
            </a:pPr>
            <a:r>
              <a:t>“From Fragmented Information to Strategic Insight.”</a:t>
            </a:r>
          </a:p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br/>
            <a:r>
              <a:t>JAI HIND 🇮🇳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4114800"/>
            <a:ext cx="1280160" cy="438912"/>
          </a:xfrm>
          <a:prstGeom prst="roundRect">
            <a:avLst/>
          </a:prstGeom>
          <a:solidFill>
            <a:srgbClr val="0F1711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onsolas"/>
              </a:defRPr>
            </a:pPr>
            <a:r>
              <a:t>Connect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07992" y="4242816"/>
            <a:ext cx="274320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55464" y="4114800"/>
            <a:ext cx="1280160" cy="438912"/>
          </a:xfrm>
          <a:prstGeom prst="roundRect">
            <a:avLst/>
          </a:prstGeom>
          <a:solidFill>
            <a:srgbClr val="0F1711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onsolas"/>
              </a:defRPr>
            </a:pPr>
            <a:r>
              <a:t>Fuse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08776" y="4242816"/>
            <a:ext cx="274320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6248" y="4114800"/>
            <a:ext cx="1280160" cy="438912"/>
          </a:xfrm>
          <a:prstGeom prst="roundRect">
            <a:avLst/>
          </a:prstGeom>
          <a:solidFill>
            <a:srgbClr val="0F1711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9560" y="4242816"/>
            <a:ext cx="274320" cy="18288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57032" y="4114800"/>
            <a:ext cx="1280160" cy="438912"/>
          </a:xfrm>
          <a:prstGeom prst="roundRect">
            <a:avLst/>
          </a:prstGeom>
          <a:solidFill>
            <a:srgbClr val="0F1711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onsolas"/>
              </a:defRPr>
            </a:pPr>
            <a:r>
              <a:t>Query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